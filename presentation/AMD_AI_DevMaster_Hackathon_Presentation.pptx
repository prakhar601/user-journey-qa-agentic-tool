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(30 seconds)</a:t>
            </a:r>
          </a:p>
          <a:p/>
          <a:p>
            <a:r>
              <a:t>Opening statement:</a:t>
            </a:r>
          </a:p>
          <a:p>
            <a:r>
              <a:t>'What you're about to see is a fully autonomous QA agent that tests any website without a single hand-written test script. It plans, executes, reflects on failures, and generates its own regression suite — running on AMD-provisioned inference.'</a:t>
            </a:r>
          </a:p>
          <a:p/>
          <a:p>
            <a:r>
              <a:t>TIMING: 30 seconds. Let the slide breathe. Don't rush.</a:t>
            </a:r>
          </a:p>
          <a:p>
            <a:r>
              <a:t>TIP: Make eye contact. Pause after the tagline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(45 seconds)</a:t>
            </a:r>
          </a:p>
          <a:p/>
          <a:p>
            <a:r>
              <a:t>Key message: QA is not just a tooling problem — it's a reasoning problem.</a:t>
            </a:r>
          </a:p>
          <a:p/>
          <a:p>
            <a:r>
              <a:t>Say: 'Every time a developer renames a CSS class, hundreds of tests break. The engineer then spends hours discovering it was a UI update, not a bug. This is waste at scale.'</a:t>
            </a:r>
          </a:p>
          <a:p/>
          <a:p>
            <a:r>
              <a:t>Point at the left column as you read each pain point. Then sweep to the right column.</a:t>
            </a:r>
          </a:p>
          <a:p>
            <a:r>
              <a:t>TIMING: 45 seconds. One breath per row.</a:t>
            </a:r>
          </a:p>
          <a:p>
            <a:r>
              <a:t>TIP: Pause on 'Maintenance cost &gt; value delivered' — that is the CFO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Solution (40 seconds)</a:t>
            </a:r>
          </a:p>
          <a:p/>
          <a:p>
            <a:r>
              <a:t>Key message: Each agent has ONE job and cannot violate the other's boundary.</a:t>
            </a:r>
          </a:p>
          <a:p/>
          <a:p>
            <a:r>
              <a:t>Say: 'The Reflection Agent is the most important distinction from classical testing. It never runs inside the execution loop — it sees the entire, immutable execution timeline and reasons about it once, after the fact.'</a:t>
            </a:r>
          </a:p>
          <a:p/>
          <a:p>
            <a:r>
              <a:t>Critical point: ConfidenceScorer and FailureClassifier are 100% deterministic. No LLM. They cannot hallucinate.</a:t>
            </a:r>
          </a:p>
          <a:p/>
          <a:p>
            <a:r>
              <a:t>TIMING: 40 seconds. Name each agent briefly — don't read the descriptions.</a:t>
            </a:r>
          </a:p>
          <a:p>
            <a:r>
              <a:t>TIP: Tap the Confidence Scorer and Failure Classifier cards: 'These two are our hallucination firewall.'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Architecture (45 seconds)</a:t>
            </a:r>
          </a:p>
          <a:p/>
          <a:p>
            <a:r>
              <a:t>Walk top to bottom, pausing at the Adaptive Execution Loop (red box).</a:t>
            </a:r>
          </a:p>
          <a:p/>
          <a:p>
            <a:r>
              <a:t>Key point: 'The red box is the hot path. Everything outside it — Reflection, Confidence, Classification — runs after the loop exits. Zero latency added to execution.'</a:t>
            </a:r>
          </a:p>
          <a:p/>
          <a:p>
            <a:r>
              <a:t>Point to the Provider Abstraction box: 'Switching from AMD to GitHub Models is one environment variable. There is zero provider-specific logic in the agents.'</a:t>
            </a:r>
          </a:p>
          <a:p/>
          <a:p>
            <a:r>
              <a:t>TIMING: 45 seconds. Use a pointer for the arrow flow.</a:t>
            </a:r>
          </a:p>
          <a:p>
            <a:r>
              <a:t>TIP: The judges will look for the provider abstraction. Point to it proactively.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Execution Flow (40 seconds)</a:t>
            </a:r>
          </a:p>
          <a:p/>
          <a:p>
            <a:r>
              <a:t>Walk through steps 1-6 at a steady pace.</a:t>
            </a:r>
          </a:p>
          <a:p/>
          <a:p>
            <a:r>
              <a:t>Emphasise step 3 (Decide): 'Unlike generating a full script upfront, we propose ONE action at a time. This is what allows the agent to naturally dismiss unexpected cookie banners or CAPTCHAs.'</a:t>
            </a:r>
          </a:p>
          <a:p/>
          <a:p>
            <a:r>
              <a:t>Point to the footer: 'The loop has five clean exit conditions — there is no infinite loop. The agent always terminates deterministically.'</a:t>
            </a:r>
          </a:p>
          <a:p/>
          <a:p>
            <a:r>
              <a:t>TIMING: 40 seconds.</a:t>
            </a:r>
          </a:p>
          <a:p>
            <a:r>
              <a:t>TIP: If the demo is live, trigger npm run dev now so the browser is already opening during Q6.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Key Innovations (50 seconds)</a:t>
            </a:r>
          </a:p>
          <a:p/>
          <a:p>
            <a:r>
              <a:t>This is the technical heart of the pitch. Judges will evaluate depth here.</a:t>
            </a:r>
          </a:p>
          <a:p/>
          <a:p>
            <a:r>
              <a:t>Must-mention items:</a:t>
            </a:r>
          </a:p>
          <a:p>
            <a:r>
              <a:t>1. Deterministic Enveloping — this is THE architectural innovation. Say: 'We don't trust the LLM blindly. We wrap its output in deterministic TypeScript that produces reproducible results.'</a:t>
            </a:r>
          </a:p>
          <a:p>
            <a:r>
              <a:t>2. Confidence Score formula — mention the exact weights. It proves this is engineered, not guessed.</a:t>
            </a:r>
          </a:p>
          <a:p>
            <a:r>
              <a:t>3. Auto Regression Generation — 'The agent's successful run becomes your CI test suite automatically.'</a:t>
            </a:r>
          </a:p>
          <a:p/>
          <a:p>
            <a:r>
              <a:t>TIMING: 50 seconds. Don't read cards verbatim — expand with one sentence each.</a:t>
            </a:r>
          </a:p>
          <a:p>
            <a:r>
              <a:t>TIP: The Deterministic Enveloping card is the judge's favourite. Spend 15 seconds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Engineering Challenges (40 seconds)</a:t>
            </a:r>
          </a:p>
          <a:p/>
          <a:p>
            <a:r>
              <a:t>Key message: Every challenge here was encountered in practice, not anticipated theoretically.</a:t>
            </a:r>
          </a:p>
          <a:p/>
          <a:p>
            <a:r>
              <a:t>Focus on the first two: LLM Hallucination and Dynamic UI.</a:t>
            </a:r>
          </a:p>
          <a:p>
            <a:r>
              <a:t>Say: 'We discovered the overlay problem on the first real test run against saucedemo.com. The natural one-action-at-a-time loop solved it without any special overlay detection code.'</a:t>
            </a:r>
          </a:p>
          <a:p/>
          <a:p>
            <a:r>
              <a:t>For Reflection Latency: 'The judge review flagged this. We isolated reflection outside the hot path specifically because we measured a 2-4 second LLM call latency per scenario.'</a:t>
            </a:r>
          </a:p>
          <a:p/>
          <a:p>
            <a:r>
              <a:t>TIMING: 40 seconds. Two challenges per 15 seconds.</a:t>
            </a:r>
          </a:p>
          <a:p>
            <a:r>
              <a:t>TIP: Move faster here — judges appreciate knowing you solved real problems, not theoretical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AMD Integration (35 seconds)</a:t>
            </a:r>
          </a:p>
          <a:p/>
          <a:p>
            <a:r>
              <a:t>This is the highest-stakes slide for the AMD judges. Be precise and honest.</a:t>
            </a:r>
          </a:p>
          <a:p/>
          <a:p>
            <a:r>
              <a:t>Say: 'The AMD integration uses the Fireworks AI endpoint provisioned by the hackathon. The AMDModelProvider implements our ModelProvider interface — the same interface used by GitHub Models and Ollama. This is not a special case.'</a:t>
            </a:r>
          </a:p>
          <a:p/>
          <a:p>
            <a:r>
              <a:t>On the roadmap: 'The ROCm items are honest future work. We did not claim local GPU inference in this submission — but the architecture is designed to support it.'</a:t>
            </a:r>
          </a:p>
          <a:p/>
          <a:p>
            <a:r>
              <a:t>TIMING: 35 seconds. Implemented: 20s. Roadmap: 15s.</a:t>
            </a:r>
          </a:p>
          <a:p>
            <a:r>
              <a:t>TIP: The honesty about Roadmap vs Implemented will earn trust. Do not blur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Demo (60 seconds — or live demo of 2 minutes)</a:t>
            </a:r>
          </a:p>
          <a:p/>
          <a:p>
            <a:r>
              <a:t>Option A (if internet available): Open the Google Drive link and play the video.</a:t>
            </a:r>
          </a:p>
          <a:p>
            <a:r>
              <a:t>Option B (if live demo): Run npm run dev against saucedemo.com. Narrate in real time.</a:t>
            </a:r>
          </a:p>
          <a:p/>
          <a:p>
            <a:r>
              <a:t>Narration cues:</a:t>
            </a:r>
          </a:p>
          <a:p>
            <a:r>
              <a:t>- When the planner runs: 'The Planner just sent the workflow to AMD. Watch the JSON contract.'</a:t>
            </a:r>
          </a:p>
          <a:p>
            <a:r>
              <a:t>- When browser opens: 'The Generator Agent sees the DOM and proposes: click login button.'</a:t>
            </a:r>
          </a:p>
          <a:p>
            <a:r>
              <a:t>- When loop exits: 'ALL_FULFILLED — every assertion passed. Confidence: 0.87.'</a:t>
            </a:r>
          </a:p>
          <a:p>
            <a:r>
              <a:t>- When Excel opens: 'Eight sheets. Root cause, timeline, regression code. All generated.'</a:t>
            </a:r>
          </a:p>
          <a:p/>
          <a:p>
            <a:r>
              <a:t>TIMING: Video = 60 seconds excerpt. Live = 2 minutes.</a:t>
            </a:r>
          </a:p>
          <a:p>
            <a:r>
              <a:t>TIP: Have the demo pre-loaded. Never fumble with setup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Generated Outputs (35 seconds)</a:t>
            </a:r>
          </a:p>
          <a:p/>
          <a:p>
            <a:r>
              <a:t>Key message: The outputs are what make this enterprise-ready, not just a proof-of-concept.</a:t>
            </a:r>
          </a:p>
          <a:p/>
          <a:p>
            <a:r>
              <a:t>Say: 'Most hackathon projects output raw JSON. We output an 8-sheet Excel workbook that a QA manager can read without touching code. And we generate the regression test file that can be dropped directly into a CI pipeline.'</a:t>
            </a:r>
          </a:p>
          <a:p/>
          <a:p>
            <a:r>
              <a:t>TIMING: 35 seconds. Don't read every item — summarise the categories.</a:t>
            </a:r>
          </a:p>
          <a:p>
            <a:r>
              <a:t>TIP: Have the Excel file open on a second monitor if possible. Flip to it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Engineering Quality (25 seconds)</a:t>
            </a:r>
          </a:p>
          <a:p/>
          <a:p>
            <a:r>
              <a:t>This slide is a credibility signal, not a deep discussion.</a:t>
            </a:r>
          </a:p>
          <a:p/>
          <a:p>
            <a:r>
              <a:t>Say: 'The codebase compiles with zero errors under TypeScript strict mode. The agent isolation boundaries are not comments — they are grep-verifiable constraints documented in the JUDGE_WALKTHROUGH.'</a:t>
            </a:r>
          </a:p>
          <a:p/>
          <a:p>
            <a:r>
              <a:t>TIMING: 25 seconds. Move quickly — judges will have already assessed quality from the code.</a:t>
            </a:r>
          </a:p>
          <a:p>
            <a:r>
              <a:t>TIP: This is also your natural bridge into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Impact (30 seconds)</a:t>
            </a:r>
          </a:p>
          <a:p/>
          <a:p>
            <a:r>
              <a:t>Key message: This is not a toy. It addresses a real enterprise bottleneck.</a:t>
            </a:r>
          </a:p>
          <a:p/>
          <a:p>
            <a:r>
              <a:t>Say: 'QA engineers stop being selector mechanics and become quality architects. The agent handles the brittle automation. Humans focus on edge-case reasoning.'</a:t>
            </a:r>
          </a:p>
          <a:p/>
          <a:p>
            <a:r>
              <a:t>Point to 'Regulated Industries': 'The Excel audit trail is not a nice-to-have — it satisfies compliance requirements out of the box.'</a:t>
            </a:r>
          </a:p>
          <a:p/>
          <a:p>
            <a:r>
              <a:t>TIMING: 30 seconds.</a:t>
            </a:r>
          </a:p>
          <a:p>
            <a:r>
              <a:t>TIP: End with AI-native QA Pipelines row — it sets up the Roadmap slide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Roadmap (25 seconds)</a:t>
            </a:r>
          </a:p>
          <a:p/>
          <a:p>
            <a:r>
              <a:t>Keep this brief. Judges know roadmaps are aspirational.</a:t>
            </a:r>
          </a:p>
          <a:p/>
          <a:p>
            <a:r>
              <a:t>Say: 'Phase 1 is already designed — the architecture supports it. Phase 1 ROCm work is the natural evolution of this AMD submission.'</a:t>
            </a:r>
          </a:p>
          <a:p/>
          <a:p>
            <a:r>
              <a:t>Don't dwell on Phases 2 and 3 — they are directional signals.</a:t>
            </a:r>
          </a:p>
          <a:p/>
          <a:p>
            <a:r>
              <a:t>TIMING: 25 seconds.</a:t>
            </a:r>
          </a:p>
          <a:p>
            <a:r>
              <a:t>TIP: Transition line: 'But the most important thing is what we have already delivered...'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Closing (20 seconds)</a:t>
            </a:r>
          </a:p>
          <a:p/>
          <a:p>
            <a:r>
              <a:t>Closing statement:</a:t>
            </a:r>
          </a:p>
          <a:p>
            <a:r>
              <a:t>'No hand-written test scripts. No brittle selectors. No silent failures. The agent plans, executes, adapts, classifies, scores, reflects, and generates — all running on AMD. We are ready for questions.'</a:t>
            </a:r>
          </a:p>
          <a:p/>
          <a:p>
            <a:r>
              <a:t>Then stand still. Smile. Don't add anything else.</a:t>
            </a:r>
          </a:p>
          <a:p/>
          <a:p>
            <a:r>
              <a:t>TIMING: 20 seconds.</a:t>
            </a:r>
          </a:p>
          <a:p>
            <a:r>
              <a:t>TIP: The silence after 'Questions welcome.' is powerful. Let it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508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51376"/>
            <a:ext cx="12188952" cy="25400"/>
          </a:xfrm>
          <a:prstGeom prst="rect">
            <a:avLst/>
          </a:prstGeom>
          <a:solidFill>
            <a:srgbClr val="8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64592"/>
            <a:ext cx="3931920" cy="384048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AMD AI DevMaster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Autonomous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0053D"/>
                </a:solidFill>
              </a:rPr>
              <a:t>User-Journey QA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</a:rPr>
              <a:t>Adaptive AI-powered browser testing using multi-agent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54680"/>
            <a:ext cx="5943600" cy="254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⚙  TypeScript + Playwright + Fireworks AI (AMD)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🔗  github.com/Prakhar601/User-Journey-QA-agentic-tool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</a:rPr>
              <a:t>"No hand-written test scripts.
No brittle selectors. No silent failures."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 with Traditional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Why every UI change breaks your test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507492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0053D"/>
                </a:solidFill>
              </a:rPr>
              <a:t>Traditional Selenium / Playwright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937760" cy="127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Hardcoded selectors break on every UI change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No reasoning about why a test failed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Maintenance cost &gt; value delivered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Dynamic UIs, popups, overlays crash scripts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Manual debugging after every deployment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❌  Zero confidence scoring on flaky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577840" cy="50749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Adaptive Agentic QA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212080" cy="1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LLM-driven DOM interpretation, no brittle selectors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Reflection Agent diagnoses root cause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Zero script maintenance — agent adapts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Adaptive loop recovers from overlays and layout shifts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Automated root-cause reports per scenario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✅  Continuous confidence score (0.0 – 1.0)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3566160"/>
            <a:ext cx="594360" cy="59436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584448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Six specialized agents. One autonomous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84248"/>
            <a:ext cx="3566160" cy="254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053D"/>
                </a:solidFill>
              </a:rPr>
              <a:t>🗺  Planner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Converts natural language into a structured JSON assertion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984248"/>
            <a:ext cx="356616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⚡  Generator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756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Proposes one action at a time — click, type, scroll, stop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84248"/>
            <a:ext cx="3566160" cy="25400"/>
          </a:xfrm>
          <a:prstGeom prst="rect">
            <a:avLst/>
          </a:prstGeom>
          <a:solidFill>
            <a:srgbClr val="00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6E"/>
                </a:solidFill>
              </a:rPr>
              <a:t>🔍  Evaluator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756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Evaluates assertions after every step against DOM and network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8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356616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27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🪞  Reflection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216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Post-execution AMD AI call — root cause, suggestions, retry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15468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630168"/>
            <a:ext cx="356616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227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86FC"/>
                </a:solidFill>
              </a:rPr>
              <a:t>📊  Confidence Scorer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216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Deterministic heuristic score (0.0–1.0) — no LLM, no hallucination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154680"/>
            <a:ext cx="356616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630168"/>
            <a:ext cx="356616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227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🛡  Failure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216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Deterministic taxonomy: UI / Network / LLM / Assertion — no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Decoupled layers — provider-agnostic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02636" y="1417320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9796" y="1490472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 Prompt</a:t>
            </a:r>
          </a:p>
        </p:txBody>
      </p:sp>
      <p:sp>
        <p:nvSpPr>
          <p:cNvPr id="8" name="Can 7"/>
          <p:cNvSpPr/>
          <p:nvPr/>
        </p:nvSpPr>
        <p:spPr>
          <a:xfrm>
            <a:off x="5929884" y="2002536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2636" y="2130552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9796" y="2203704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Planner Agent  →  JSON Assertion Contract</a:t>
            </a:r>
          </a:p>
        </p:txBody>
      </p:sp>
      <p:sp>
        <p:nvSpPr>
          <p:cNvPr id="11" name="Can 10"/>
          <p:cNvSpPr/>
          <p:nvPr/>
        </p:nvSpPr>
        <p:spPr>
          <a:xfrm>
            <a:off x="5929884" y="2715768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2636" y="2843784"/>
            <a:ext cx="6583680" cy="566928"/>
          </a:xfrm>
          <a:prstGeom prst="rect">
            <a:avLst/>
          </a:prstGeom>
          <a:solidFill>
            <a:srgbClr val="8B0025"/>
          </a:solidFill>
          <a:ln w="2286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9796" y="2916936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Adaptive Execution Loop</a:t>
            </a:r>
          </a:p>
        </p:txBody>
      </p:sp>
      <p:sp>
        <p:nvSpPr>
          <p:cNvPr id="14" name="Can 13"/>
          <p:cNvSpPr/>
          <p:nvPr/>
        </p:nvSpPr>
        <p:spPr>
          <a:xfrm>
            <a:off x="5929884" y="3429000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2636" y="3557015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9796" y="3630168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Playwright Browser + DOM + Network</a:t>
            </a:r>
          </a:p>
        </p:txBody>
      </p:sp>
      <p:sp>
        <p:nvSpPr>
          <p:cNvPr id="17" name="Can 16"/>
          <p:cNvSpPr/>
          <p:nvPr/>
        </p:nvSpPr>
        <p:spPr>
          <a:xfrm>
            <a:off x="5929884" y="4142231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2636" y="4270248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9796" y="4343400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Assertion Engine  (Deterministic)</a:t>
            </a:r>
          </a:p>
        </p:txBody>
      </p:sp>
      <p:sp>
        <p:nvSpPr>
          <p:cNvPr id="20" name="Can 19"/>
          <p:cNvSpPr/>
          <p:nvPr/>
        </p:nvSpPr>
        <p:spPr>
          <a:xfrm>
            <a:off x="5929884" y="4855464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02636" y="4983480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9796" y="5056632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Reflection Agent + Failure Classifier + Confidence Scorer</a:t>
            </a:r>
          </a:p>
        </p:txBody>
      </p:sp>
      <p:sp>
        <p:nvSpPr>
          <p:cNvPr id="23" name="Can 22"/>
          <p:cNvSpPr/>
          <p:nvPr/>
        </p:nvSpPr>
        <p:spPr>
          <a:xfrm>
            <a:off x="5929884" y="5568696"/>
            <a:ext cx="329184" cy="274320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02636" y="5696712"/>
            <a:ext cx="6583680" cy="566928"/>
          </a:xfrm>
          <a:prstGeom prst="rect">
            <a:avLst/>
          </a:prstGeom>
          <a:solidFill>
            <a:srgbClr val="1A1A2E"/>
          </a:solidFill>
          <a:ln w="2286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9796" y="5769864"/>
            <a:ext cx="6355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Reports: Excel · JSON · Playwright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514600"/>
            <a:ext cx="2011680" cy="1417320"/>
          </a:xfrm>
          <a:prstGeom prst="rect">
            <a:avLst/>
          </a:prstGeom>
          <a:solidFill>
            <a:srgbClr val="101422"/>
          </a:solidFill>
          <a:ln w="1270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560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053D"/>
                </a:solidFill>
              </a:rPr>
              <a:t>Provider
Abstraction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09067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CCCC"/>
                </a:solidFill>
              </a:rPr>
              <a:t>AMD / Fireworks
GitHub Models
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063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053D"/>
                </a:solidFill>
              </a:rPr>
              <a:t>──▶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Adaptive Execution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One action at a time — observe, decide, execute, evaluate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79" y="1618488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Receive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6712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Natural language description →
Planner generates assertion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167128"/>
            <a:ext cx="329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50876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618488"/>
            <a:ext cx="502920" cy="502920"/>
          </a:xfrm>
          <a:prstGeom prst="rect">
            <a:avLst/>
          </a:prstGeom>
          <a:solidFill>
            <a:srgbClr val="00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645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6E"/>
                </a:solidFill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16712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Extract clean DOM snapshot
+ intercept HTTP network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167128"/>
            <a:ext cx="329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C96E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150876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19" y="1618488"/>
            <a:ext cx="5029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7" y="216712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Generator Agent proposes
the single next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79" y="3813048"/>
            <a:ext cx="502920" cy="50292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053D"/>
                </a:solidFill>
              </a:rPr>
              <a:t>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36168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Playwright dispatches action
with overlay recovery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361688"/>
            <a:ext cx="329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053D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370332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813048"/>
            <a:ext cx="502920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86FC"/>
                </a:solidFill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436168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Deterministic assertion check
against DOM + network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8" y="4361688"/>
            <a:ext cx="329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B86FC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703320"/>
            <a:ext cx="338328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19" y="3813048"/>
            <a:ext cx="502920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19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CCCC"/>
                </a:solidFill>
              </a:rPr>
              <a:t>Loop / Exit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7" y="436168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If assertions fulfilled → exit
Otherwise → next iteration</a:t>
            </a:r>
          </a:p>
        </p:txBody>
      </p:sp>
      <p:sp>
        <p:nvSpPr>
          <p:cNvPr id="40" name="Can 39"/>
          <p:cNvSpPr/>
          <p:nvPr/>
        </p:nvSpPr>
        <p:spPr>
          <a:xfrm>
            <a:off x="5934456" y="3337560"/>
            <a:ext cx="329184" cy="384048"/>
          </a:xfrm>
          <a:prstGeom prst="can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650992"/>
            <a:ext cx="11521440" cy="868680"/>
          </a:xfrm>
          <a:prstGeom prst="rect">
            <a:avLst/>
          </a:prstGeom>
          <a:solidFill>
            <a:srgbClr val="101422"/>
          </a:solidFill>
          <a:ln w="1270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7424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Exit reasons:  ALL_FULFILLED  ·  EXPLICIT_STOP  ·  MAX_STEPS  ·  ACTION_FAILED  ·  LLM_ERROR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What makes this system different from a Playwright wrapper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53D"/>
                </a:solidFill>
              </a:rPr>
              <a:t>🧠  Reflection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Isolated post-execution AMD AI call.
Analyzes the full execution timeline once — never inside the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🛡  Deterministic Enveloping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8424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FailureClassifier and ConfidenceScorer are pure TypeScript.
No LLM — they cannot hallucinate or be inconsistent.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9748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86FC"/>
                </a:solidFill>
              </a:rPr>
              <a:t>📈  Confidence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Score = (assertions × 0.50) + (stability × 0.30) + (stop reason × 0.20)
Provides a continuous reliability signal, not binary pass/fail.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70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6E"/>
                </a:solidFill>
              </a:rPr>
              <a:t>🔌  Provider Abstraction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7296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ModelProvider interface abstracts AMD, GitHub Models, and Ollama.
Switch with one environment variable — zero code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93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🔁  Auto Regression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6168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Converts successful agent runs into stable Playwright .spec.ts files.
Bridges agentic exploration with CI/CD stability.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6235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593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📊  Network-Aware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6168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Intercepts HTTP traffic during execution.
Assertions verify API payload content — not just UI visibility.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74920"/>
            <a:ext cx="1156716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480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🗓  Execution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50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Complete chronological audit log of every pipeline stage.
Replay exactly what happened — no black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Engineering 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Real problems solved — not theoretical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81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0053D"/>
                </a:solidFill>
              </a:rPr>
              <a:t>LLM 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476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LLMs produce invalid JSON or fabricate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77439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Retry with schema enforcement. FailureClassifier catches LLM_ERROR deterministically.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581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Dynamic UI / Overlays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9476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Cookie banners, popups, and CAPTCHA intercept clicks.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77439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One-action-at-a-time loop naturally surfaces overlays. Escape key + body click recovery.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581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6E"/>
                </a:solidFill>
              </a:rPr>
              <a:t>Provider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9476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Switching LLM vendors is expensive and risky.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77439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ModelProvider interface + ProviderFactory. One env-var change routes all six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273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A500"/>
                </a:solidFill>
              </a:rPr>
              <a:t>Assertion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6393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Agent may mark assertions fulfilled prematurely.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069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finaliseTextAbsentAssertions() closes assertions post-loop before scoring.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0040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273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B86FC"/>
                </a:solidFill>
              </a:rPr>
              <a:t>Report Fidelity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6393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Execution state must be preserved exactly for reporting.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069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Immutable ScenarioResult[] collected by Orchestrator — agents never mutate state.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200400"/>
            <a:ext cx="3657600" cy="1371600"/>
          </a:xfrm>
          <a:prstGeom prst="rect">
            <a:avLst/>
          </a:prstGeom>
          <a:solidFill>
            <a:srgbClr val="1A1A2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273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</a:rPr>
              <a:t>Reflection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6393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❗ Reflection adds LLM latency to every test run.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69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Reflection runs post-loop in parallel with report generation — zero execution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AMD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Fireworks AI inference endpoint · OpenAI-compatible provider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486400" cy="4937760"/>
          </a:xfrm>
          <a:prstGeom prst="rect">
            <a:avLst/>
          </a:prstGeom>
          <a:solidFill>
            <a:srgbClr val="1A1A2E"/>
          </a:solidFill>
          <a:ln w="2540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053D"/>
                </a:solidFill>
              </a:rPr>
              <a:t>✅  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84831"/>
            <a:ext cx="5120640" cy="1905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AMD AI DevMaster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provisioned Fireworks AI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Endpoint: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455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api.fireworks.ai/inference/v1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1129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deepseek-v4-flash-0731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966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OpenAI-compatible AMDModelProvider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enforces strict JSON schema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Cross-provider benchmark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npm run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13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measures AMD vs GitHub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058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on latency, TTFT, token 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08760"/>
            <a:ext cx="5486400" cy="4937760"/>
          </a:xfrm>
          <a:prstGeom prst="rect">
            <a:avLst/>
          </a:prstGeom>
          <a:solidFill>
            <a:srgbClr val="1A1A2E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99"/>
                </a:solidFill>
              </a:rPr>
              <a:t>🗺  FUTURE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084831"/>
            <a:ext cx="5120640" cy="127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2286000"/>
            <a:ext cx="5166360" cy="1051560"/>
          </a:xfrm>
          <a:prstGeom prst="rect">
            <a:avLst/>
          </a:prstGeom>
          <a:solidFill>
            <a:srgbClr val="101422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350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ROCm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249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77"/>
                </a:solidFill>
              </a:rPr>
              <a:t>Run Planner and Reflection on Radeon GPU offline. Eliminate cloud API cost for slow reasoning agents.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456432"/>
            <a:ext cx="5166360" cy="1051560"/>
          </a:xfrm>
          <a:prstGeom prst="rect">
            <a:avLst/>
          </a:prstGeom>
          <a:solidFill>
            <a:srgbClr val="101422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5204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Local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953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77"/>
                </a:solidFill>
              </a:rPr>
              <a:t>ONNX / llama.cpp execution on AMD hardware. Delegate Generator Agent to cloud, heavy thinkers stay local.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626864"/>
            <a:ext cx="5166360" cy="1051560"/>
          </a:xfrm>
          <a:prstGeom prst="rect">
            <a:avLst/>
          </a:prstGeom>
          <a:solidFill>
            <a:srgbClr val="101422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690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GPU Benchmarking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6577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77"/>
                </a:solidFill>
              </a:rPr>
              <a:t>Measure ROCm throughput vs cloud endpoint. Provide objective hardware performance metrics.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797296"/>
            <a:ext cx="5166360" cy="1051560"/>
          </a:xfrm>
          <a:prstGeom prst="rect">
            <a:avLst/>
          </a:prstGeom>
          <a:solidFill>
            <a:srgbClr val="101422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8613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Multi-Tab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23620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77"/>
                </a:solidFill>
              </a:rPr>
              <a:t>SSO / OAuth flows that open new browser contexts. Extend BrowserController to manage page arrays.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5-minute walkthrough of the complete autonomous QA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1521440" cy="2926080"/>
          </a:xfrm>
          <a:prstGeom prst="rect">
            <a:avLst/>
          </a:prstGeom>
          <a:solidFill>
            <a:srgbClr val="1A1A2E"/>
          </a:solidFill>
          <a:ln w="2540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053D"/>
                </a:solidFill>
              </a:rPr>
              <a:t>▶  DEMO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https://drive.google.com/file/d/1YanieQ-A2P0G1wv03hTpC-qfLOc4NfCc/view?usp=drive_link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11064240" cy="127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Adaptive Planning      →    Natural language → JSON assertion contract in real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7238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Browser Execution      →    Live Playwright automation on target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Overlay Recovery       →    Agent dismisses popup and continues without script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941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Reflection Output      →    AMD AI root-cause analysis after execution completes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050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Confidence Score       →    0.87 / 1.0 printed to terminal with component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159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•  Report Generation      →    8-sheet Excel + Playwright regression .spec.ts written to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72000"/>
            <a:ext cx="530352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Demo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7492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URL:          saucedemo.com (stable public test site)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Provider:     AMD / Fireworks AI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Model:        deepseek-v4-flash-0731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Browser:      Chromium (headless: false)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572000"/>
            <a:ext cx="5120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6634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053D"/>
                </a:solidFill>
              </a:rPr>
              <a:t>Scan or click to 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0749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99"/>
                </a:solidFill>
              </a:rPr>
              <a:t>[ QR Code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790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CCCC"/>
                </a:solidFill>
              </a:rPr>
              <a:t>drive.google.com/file/d/
1YanieQ-A2P0G1wv03hTpC-qfLOc4NfCc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Generated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Every run produces enterprise-grade artifacts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394960" cy="169164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53D"/>
                </a:solidFill>
              </a:rPr>
              <a:t>📋  TestResults.xlsx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8 sheets: Test Results · Executive Summary · System Analysis
AI Reflection Report · Execution Timeline · Run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08760"/>
            <a:ext cx="5394960" cy="1691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🧪  regression-playwright.spec.ts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39112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Production-ready Playwright TypeScript spec
Generated from the successful autonomous run — ready for CI/CD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37560"/>
            <a:ext cx="5394960" cy="1691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6E"/>
                </a:solidFill>
              </a:rPr>
              <a:t>📊  benchmark.json / 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1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Cross-provider latency, TTFT, token counts,
JSON validity for AMD vs GitHub Models vs Ollama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337560"/>
            <a:ext cx="5394960" cy="16916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4290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🪞  AI Reflection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867911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Per-scenario: Summary · Root Cause · Suggestions
Should Retry · Retry Strategy · Confidence (0.0–1.0)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74920"/>
            <a:ext cx="53949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59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86FC"/>
                </a:solidFill>
              </a:rPr>
              <a:t>📅  Execution 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05272"/>
            <a:ext cx="51663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Complete chronological audit: Scenario Started → Adaptive Loop
→ Assertions Evaluated → Confidence Calculated → Reflection Generated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074920"/>
            <a:ext cx="53949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166359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🛡  Failure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605272"/>
            <a:ext cx="51663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Deterministic taxonomy per scenario:
UI_FAILURE · NETWORK_FAILURE · LLM_ERROR · ASSERTION_FAILURE ·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Production-grade practices — not a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TypeScript Strict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noImplicitAny · strict · forceConsistentCasing
Zero compile errors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08760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53D"/>
                </a:solidFill>
              </a:rPr>
              <a:t>Provider Abstraction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ModelProvider interface — AMD, GitHub, Ollama
Zero provider-specific code in agent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27248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6E"/>
                </a:solidFill>
              </a:rPr>
              <a:t>Agent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ReflectionAgent: NEVER imports browser or reporting.
Grep-verifiable in 10 seconds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127248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1868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Retry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3016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fetchWithTimeout + configurable retry wraps
every LLM call — network failures don't crash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36592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28031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86FC"/>
                </a:solidFill>
              </a:rPr>
              <a:t>Graceful Degradation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39512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Reflection failures return safe fallback.
Execution never crashes on missing AI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736592"/>
            <a:ext cx="5394960" cy="1481328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828031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Structured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39512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README · ARCHITECTURE · JUDGE_WALKTHROUGH
DEMO_GUIDE — every layer documented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Transforming how engineering teams think about test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1567160" cy="233172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053D"/>
                </a:solidFill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hand-written
test scripts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64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Automatic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recovery from
UI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6E"/>
                </a:solidFill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analysis per
scenario — not guesses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664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B86FC"/>
                </a:solidFill>
              </a:rPr>
              <a:t>CI-ready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Playwright spec
automatically generated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77639"/>
            <a:ext cx="1156716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6907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Enterprise Web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69079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Login flows, checkout journeys, dashboards — all tested without scripting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0016"/>
            <a:ext cx="1156716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91455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Regulated Industries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791455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Immutable Excel audit trails satisfy compliance reporting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22392"/>
            <a:ext cx="1156716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13831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Agile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13831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QA keeps pace with daily deployments without selector 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144768"/>
            <a:ext cx="1156716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236207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AI-native QA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236207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Foundation for self-healing CI/CD agents driven by AMD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81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Where this goes next — with AMD hardware at the 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657600" cy="5029200"/>
          </a:xfrm>
          <a:prstGeom prst="rect">
            <a:avLst/>
          </a:prstGeom>
          <a:solidFill>
            <a:srgbClr val="1A1A2E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53D"/>
                </a:solidFill>
              </a:rPr>
              <a:t>Phase 1
(Next 3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13432"/>
            <a:ext cx="3383280" cy="127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ROCm integration — run Planner + Reflection on Radeon GPU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Multi-tab browser context support for SSO / OAuth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Self-healing selectors — use generated spec as CI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657600" cy="50292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Phase 2
(3–6 months)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313432"/>
            <a:ext cx="3383280" cy="1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Visual diffing — pixel-perfect snapshot regression alongside DOM assertions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7033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Agent memory — recall past failures to inform planning on future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9377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Multi-agent collaboration — parallel scenarios across concurrent browser sessions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508760"/>
            <a:ext cx="3657600" cy="50292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6E"/>
                </a:solidFill>
              </a:rPr>
              <a:t>Phase 3
(6–12 months)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313432"/>
            <a:ext cx="3383280" cy="12700"/>
          </a:xfrm>
          <a:prstGeom prst="rect">
            <a:avLst/>
          </a:prstGeom>
          <a:solidFill>
            <a:srgbClr val="00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Full AMD hardware benchmark — ROCm throughput vs cloud endpoint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7033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Autonomous performance testing — network latency and Core Web Vitals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9377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Plug-in marketplace — custom assertion and reporting plugins per domain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080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88952" cy="25400"/>
          </a:xfrm>
          <a:prstGeom prst="rect">
            <a:avLst/>
          </a:prstGeom>
          <a:solidFill>
            <a:srgbClr val="8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82880"/>
            <a:ext cx="3931920" cy="411480"/>
          </a:xfrm>
          <a:prstGeom prst="rect">
            <a:avLst/>
          </a:prstGeom>
          <a:solidFill>
            <a:srgbClr val="E00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AMD AI DevMaster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CCCCC"/>
                </a:solidFill>
              </a:rPr>
              <a:t>No hand-written scripts.  No brittle selectors.  No silent failures.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9464040" cy="822960"/>
          </a:xfrm>
          <a:prstGeom prst="rect">
            <a:avLst/>
          </a:prstGeom>
          <a:solidFill>
            <a:srgbClr val="8B0025"/>
          </a:solidFill>
          <a:ln w="1270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633472"/>
            <a:ext cx="9189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The agent plans, executes, adapts, classifies, scores, reflects, and generates — powered by AMD.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3520440" cy="1920240"/>
          </a:xfrm>
          <a:prstGeom prst="rect">
            <a:avLst/>
          </a:prstGeom>
          <a:solidFill>
            <a:srgbClr val="0D0D0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📂 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github.com/Prakhar601/
User-Journey-QA-agentic-tool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3657600"/>
            <a:ext cx="3520440" cy="1920240"/>
          </a:xfrm>
          <a:prstGeom prst="rect">
            <a:avLst/>
          </a:prstGeom>
          <a:solidFill>
            <a:srgbClr val="0D0D0D"/>
          </a:solidFill>
          <a:ln w="19050">
            <a:solidFill>
              <a:srgbClr val="E00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7490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53D"/>
                </a:solidFill>
              </a:rPr>
              <a:t>🎬  Demo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25196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drive.google.com/file/d/
1YanieQ-A2P0G1wv03hTpC-qfLOc4NfCc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657600"/>
            <a:ext cx="3520440" cy="1920240"/>
          </a:xfrm>
          <a:prstGeom prst="rect">
            <a:avLst/>
          </a:prstGeom>
          <a:solidFill>
            <a:srgbClr val="0D0D0D"/>
          </a:solidFill>
          <a:ln w="19050">
            <a:solidFill>
              <a:srgbClr val="00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7490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6E"/>
                </a:solidFill>
              </a:rPr>
              <a:t>📋  Judge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5196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See JUDGE_WALKTHROUGH.md
in repository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88899"/>
                </a:solidFill>
              </a:rPr>
              <a:t>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